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5074920"/>
  <p:notesSz cx="507492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325880"/>
            <a:ext cx="5907024" cy="2834640"/>
          </a:xfrm>
          <a:prstGeom prst="ellipse">
            <a:avLst/>
          </a:prstGeom>
          <a:solidFill>
            <a:srgbClr val="F2F5F1"/>
          </a:solidFill>
          <a:ln w="12700">
            <a:solidFill>
              <a:srgbClr val="BFCBBF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6099048" y="1325880"/>
            <a:ext cx="5907024" cy="2834640"/>
          </a:xfrm>
          <a:prstGeom prst="ellipse">
            <a:avLst/>
          </a:prstGeom>
          <a:solidFill>
            <a:srgbClr val="F2F5F1"/>
          </a:solidFill>
          <a:ln w="12700">
            <a:solidFill>
              <a:srgbClr val="BFCBBF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240280"/>
            <a:ext cx="457200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1776" y="3547872"/>
            <a:ext cx="317008" cy="47548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8044" y="2715768"/>
            <a:ext cx="556392" cy="530352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3086" y="2514600"/>
            <a:ext cx="218212" cy="365760"/>
          </a:xfrm>
          <a:prstGeom prst="rect">
            <a:avLst/>
          </a:prstGeom>
        </p:spPr>
      </p:pic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284" y="3236976"/>
            <a:ext cx="556392" cy="530352"/>
          </a:xfrm>
          <a:prstGeom prst="rect">
            <a:avLst/>
          </a:prstGeom>
        </p:spPr>
      </p:pic>
      <p:pic>
        <p:nvPicPr>
          <p:cNvPr id="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334" y="3383280"/>
            <a:ext cx="218212" cy="365760"/>
          </a:xfrm>
          <a:prstGeom prst="rect">
            <a:avLst/>
          </a:prstGeom>
        </p:spPr>
      </p:pic>
      <p:pic>
        <p:nvPicPr>
          <p:cNvPr id="1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4164" y="2761488"/>
            <a:ext cx="556392" cy="530352"/>
          </a:xfrm>
          <a:prstGeom prst="rect">
            <a:avLst/>
          </a:prstGeom>
        </p:spPr>
      </p:pic>
      <p:pic>
        <p:nvPicPr>
          <p:cNvPr id="1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5616" y="2651760"/>
            <a:ext cx="317008" cy="475488"/>
          </a:xfrm>
          <a:prstGeom prst="rect">
            <a:avLst/>
          </a:prstGeom>
        </p:spPr>
      </p:pic>
      <p:pic>
        <p:nvPicPr>
          <p:cNvPr id="1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47120" y="2560320"/>
            <a:ext cx="457200" cy="457200"/>
          </a:xfrm>
          <a:prstGeom prst="rect">
            <a:avLst/>
          </a:prstGeom>
        </p:spPr>
      </p:pic>
      <p:pic>
        <p:nvPicPr>
          <p:cNvPr id="1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16816" y="3566160"/>
            <a:ext cx="317008" cy="475488"/>
          </a:xfrm>
          <a:prstGeom prst="rect">
            <a:avLst/>
          </a:prstGeom>
        </p:spPr>
      </p:pic>
      <p:pic>
        <p:nvPicPr>
          <p:cNvPr id="1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43233" y="1828800"/>
            <a:ext cx="527613" cy="502920"/>
          </a:xfrm>
          <a:prstGeom prst="rect">
            <a:avLst/>
          </a:prstGeom>
        </p:spPr>
      </p:pic>
      <p:pic>
        <p:nvPicPr>
          <p:cNvPr id="1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3919" y="1545336"/>
            <a:ext cx="286242" cy="301752"/>
          </a:xfrm>
          <a:prstGeom prst="rect">
            <a:avLst/>
          </a:prstGeom>
        </p:spPr>
      </p:pic>
      <p:sp>
        <p:nvSpPr>
          <p:cNvPr id="16" name="Shape 2"/>
          <p:cNvSpPr/>
          <p:nvPr/>
        </p:nvSpPr>
        <p:spPr>
          <a:xfrm rot="2575611">
            <a:off x="2492837" y="1318803"/>
            <a:ext cx="274320" cy="1487069"/>
          </a:xfrm>
          <a:prstGeom prst="triangle">
            <a:avLst/>
          </a:prstGeom>
          <a:solidFill>
            <a:srgbClr val="8A8A8A">
              <a:alpha val="38000"/>
            </a:srgbClr>
          </a:solidFill>
          <a:ln w="9525">
            <a:solidFill>
              <a:srgbClr val="8A8A8A">
                <a:alpha val="75000"/>
              </a:srgbClr>
            </a:solidFill>
            <a:prstDash val="solid"/>
          </a:ln>
        </p:spPr>
      </p:sp>
      <p:sp>
        <p:nvSpPr>
          <p:cNvPr id="17" name="Shape 3"/>
          <p:cNvSpPr/>
          <p:nvPr/>
        </p:nvSpPr>
        <p:spPr>
          <a:xfrm>
            <a:off x="2029968" y="2560320"/>
            <a:ext cx="182880" cy="182880"/>
          </a:xfrm>
          <a:prstGeom prst="line">
            <a:avLst/>
          </a:prstGeom>
          <a:noFill/>
          <a:ln w="38100">
            <a:solidFill>
              <a:srgbClr val="8A8A8A"/>
            </a:solidFill>
            <a:prstDash val="solid"/>
          </a:ln>
        </p:spPr>
      </p:sp>
      <p:sp>
        <p:nvSpPr>
          <p:cNvPr id="18" name="Shape 4"/>
          <p:cNvSpPr/>
          <p:nvPr/>
        </p:nvSpPr>
        <p:spPr>
          <a:xfrm flipV="1">
            <a:off x="2029968" y="2560320"/>
            <a:ext cx="182880" cy="182880"/>
          </a:xfrm>
          <a:prstGeom prst="line">
            <a:avLst/>
          </a:prstGeom>
          <a:noFill/>
          <a:ln w="38100">
            <a:solidFill>
              <a:srgbClr val="8A8A8A"/>
            </a:solidFill>
            <a:prstDash val="solid"/>
          </a:ln>
        </p:spPr>
      </p:sp>
      <p:sp>
        <p:nvSpPr>
          <p:cNvPr id="19" name="Shape 5"/>
          <p:cNvSpPr/>
          <p:nvPr/>
        </p:nvSpPr>
        <p:spPr>
          <a:xfrm rot="5235115">
            <a:off x="2560320" y="1082123"/>
            <a:ext cx="237744" cy="915453"/>
          </a:xfrm>
          <a:prstGeom prst="triangle">
            <a:avLst/>
          </a:prstGeom>
          <a:solidFill>
            <a:srgbClr val="338C40">
              <a:alpha val="52000"/>
            </a:srgbClr>
          </a:solidFill>
          <a:ln w="9525">
            <a:solidFill>
              <a:srgbClr val="338C40">
                <a:alpha val="75000"/>
              </a:srgbClr>
            </a:solidFill>
            <a:prstDash val="solid"/>
          </a:ln>
        </p:spPr>
      </p:sp>
      <p:sp>
        <p:nvSpPr>
          <p:cNvPr id="20" name="Shape 6"/>
          <p:cNvSpPr/>
          <p:nvPr/>
        </p:nvSpPr>
        <p:spPr>
          <a:xfrm rot="1292108">
            <a:off x="1544604" y="1510027"/>
            <a:ext cx="237744" cy="1797554"/>
          </a:xfrm>
          <a:prstGeom prst="triangle">
            <a:avLst/>
          </a:prstGeom>
          <a:solidFill>
            <a:srgbClr val="338C40">
              <a:alpha val="52000"/>
            </a:srgbClr>
          </a:solidFill>
          <a:ln w="9525">
            <a:solidFill>
              <a:srgbClr val="338C40">
                <a:alpha val="75000"/>
              </a:srgbClr>
            </a:solidFill>
            <a:prstDash val="solid"/>
          </a:ln>
        </p:spPr>
      </p:sp>
      <p:sp>
        <p:nvSpPr>
          <p:cNvPr id="21" name="Shape 7"/>
          <p:cNvSpPr/>
          <p:nvPr/>
        </p:nvSpPr>
        <p:spPr>
          <a:xfrm rot="5061567">
            <a:off x="7563917" y="309896"/>
            <a:ext cx="310896" cy="2679364"/>
          </a:xfrm>
          <a:prstGeom prst="triangle">
            <a:avLst/>
          </a:prstGeom>
          <a:solidFill>
            <a:srgbClr val="0073BA">
              <a:alpha val="45000"/>
            </a:srgbClr>
          </a:solidFill>
          <a:ln w="9525">
            <a:solidFill>
              <a:srgbClr val="0073BA">
                <a:alpha val="75000"/>
              </a:srgbClr>
            </a:solidFill>
            <a:prstDash val="solid"/>
          </a:ln>
        </p:spPr>
      </p:sp>
      <p:sp>
        <p:nvSpPr>
          <p:cNvPr id="22" name="Shape 8"/>
          <p:cNvSpPr/>
          <p:nvPr/>
        </p:nvSpPr>
        <p:spPr>
          <a:xfrm rot="-5060526">
            <a:off x="3866998" y="715295"/>
            <a:ext cx="310896" cy="1780783"/>
          </a:xfrm>
          <a:prstGeom prst="triangle">
            <a:avLst/>
          </a:prstGeom>
          <a:solidFill>
            <a:srgbClr val="B81A29">
              <a:alpha val="42000"/>
            </a:srgbClr>
          </a:solidFill>
          <a:ln w="9525">
            <a:solidFill>
              <a:srgbClr val="B81A29">
                <a:alpha val="75000"/>
              </a:srgbClr>
            </a:solidFill>
            <a:prstDash val="solid"/>
          </a:ln>
        </p:spPr>
      </p:sp>
      <p:sp>
        <p:nvSpPr>
          <p:cNvPr id="23" name="Shape 9"/>
          <p:cNvSpPr/>
          <p:nvPr/>
        </p:nvSpPr>
        <p:spPr>
          <a:xfrm>
            <a:off x="5038344" y="1563624"/>
            <a:ext cx="201168" cy="201168"/>
          </a:xfrm>
          <a:prstGeom prst="line">
            <a:avLst/>
          </a:prstGeom>
          <a:noFill/>
          <a:ln w="38100">
            <a:solidFill>
              <a:srgbClr val="B81A29"/>
            </a:solidFill>
            <a:prstDash val="solid"/>
          </a:ln>
        </p:spPr>
      </p:sp>
      <p:sp>
        <p:nvSpPr>
          <p:cNvPr id="24" name="Shape 10"/>
          <p:cNvSpPr/>
          <p:nvPr/>
        </p:nvSpPr>
        <p:spPr>
          <a:xfrm flipV="1">
            <a:off x="5038344" y="1563624"/>
            <a:ext cx="201168" cy="201168"/>
          </a:xfrm>
          <a:prstGeom prst="line">
            <a:avLst/>
          </a:prstGeom>
          <a:noFill/>
          <a:ln w="38100">
            <a:solidFill>
              <a:srgbClr val="B81A29"/>
            </a:solidFill>
            <a:prstDash val="solid"/>
          </a:ln>
        </p:spPr>
      </p:sp>
      <p:pic>
        <p:nvPicPr>
          <p:cNvPr id="2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04553" y="1463040"/>
            <a:ext cx="1263678" cy="1600200"/>
          </a:xfrm>
          <a:prstGeom prst="rect">
            <a:avLst/>
          </a:prstGeom>
        </p:spPr>
      </p:pic>
      <p:pic>
        <p:nvPicPr>
          <p:cNvPr id="2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20721" y="1463040"/>
            <a:ext cx="1263678" cy="1600200"/>
          </a:xfrm>
          <a:prstGeom prst="rect">
            <a:avLst/>
          </a:prstGeom>
        </p:spPr>
      </p:pic>
      <p:pic>
        <p:nvPicPr>
          <p:cNvPr id="2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26484" y="1554480"/>
            <a:ext cx="733817" cy="658368"/>
          </a:xfrm>
          <a:prstGeom prst="rect">
            <a:avLst/>
          </a:prstGeom>
        </p:spPr>
      </p:pic>
      <p:sp>
        <p:nvSpPr>
          <p:cNvPr id="28" name="Shape 11"/>
          <p:cNvSpPr/>
          <p:nvPr/>
        </p:nvSpPr>
        <p:spPr>
          <a:xfrm>
            <a:off x="1828800" y="1481328"/>
            <a:ext cx="329184" cy="164592"/>
          </a:xfrm>
          <a:prstGeom prst="rect">
            <a:avLst/>
          </a:prstGeom>
          <a:solidFill>
            <a:srgbClr val="0D2680"/>
          </a:solidFill>
          <a:ln/>
        </p:spPr>
      </p:sp>
      <p:pic>
        <p:nvPicPr>
          <p:cNvPr id="2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22996" y="1856232"/>
            <a:ext cx="733817" cy="658368"/>
          </a:xfrm>
          <a:prstGeom prst="rect">
            <a:avLst/>
          </a:prstGeom>
        </p:spPr>
      </p:pic>
      <p:pic>
        <p:nvPicPr>
          <p:cNvPr id="3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07750" y="1499616"/>
            <a:ext cx="364308" cy="384048"/>
          </a:xfrm>
          <a:prstGeom prst="rect">
            <a:avLst/>
          </a:prstGeom>
        </p:spPr>
      </p:pic>
      <p:pic>
        <p:nvPicPr>
          <p:cNvPr id="3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9758" y="3429000"/>
            <a:ext cx="637924" cy="347472"/>
          </a:xfrm>
          <a:prstGeom prst="rect">
            <a:avLst/>
          </a:prstGeom>
        </p:spPr>
      </p:pic>
      <p:sp>
        <p:nvSpPr>
          <p:cNvPr id="32" name="Text 12"/>
          <p:cNvSpPr/>
          <p:nvPr/>
        </p:nvSpPr>
        <p:spPr>
          <a:xfrm>
            <a:off x="2267712" y="31821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gNB 1</a:t>
            </a:r>
            <a:endParaRPr lang="en-US" sz="1300" dirty="0"/>
          </a:p>
        </p:txBody>
      </p:sp>
      <p:sp>
        <p:nvSpPr>
          <p:cNvPr id="33" name="Text 13"/>
          <p:cNvSpPr/>
          <p:nvPr/>
        </p:nvSpPr>
        <p:spPr>
          <a:xfrm>
            <a:off x="8183880" y="31821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gNB 2</a:t>
            </a:r>
            <a:endParaRPr lang="en-US" sz="1300" dirty="0"/>
          </a:p>
        </p:txBody>
      </p:sp>
      <p:sp>
        <p:nvSpPr>
          <p:cNvPr id="34" name="Text 14"/>
          <p:cNvSpPr/>
          <p:nvPr/>
        </p:nvSpPr>
        <p:spPr>
          <a:xfrm>
            <a:off x="1581912" y="118872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26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NCR</a:t>
            </a:r>
            <a:endParaRPr lang="en-US" sz="1250" dirty="0"/>
          </a:p>
        </p:txBody>
      </p:sp>
      <p:sp>
        <p:nvSpPr>
          <p:cNvPr id="35" name="Text 15"/>
          <p:cNvSpPr/>
          <p:nvPr/>
        </p:nvSpPr>
        <p:spPr>
          <a:xfrm>
            <a:off x="5221224" y="12070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FWA CPE (cell edge)</a:t>
            </a:r>
            <a:endParaRPr lang="en-US" sz="1200" dirty="0"/>
          </a:p>
        </p:txBody>
      </p:sp>
      <p:sp>
        <p:nvSpPr>
          <p:cNvPr id="36" name="Text 16"/>
          <p:cNvSpPr/>
          <p:nvPr/>
        </p:nvSpPr>
        <p:spPr>
          <a:xfrm>
            <a:off x="256032" y="19202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NCR-relayed path</a:t>
            </a:r>
            <a:endParaRPr lang="en-US" sz="1200" dirty="0"/>
          </a:p>
        </p:txBody>
      </p:sp>
      <p:sp>
        <p:nvSpPr>
          <p:cNvPr id="37" name="Text 17"/>
          <p:cNvSpPr/>
          <p:nvPr/>
        </p:nvSpPr>
        <p:spPr>
          <a:xfrm>
            <a:off x="1737360" y="27980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weak direct path</a:t>
            </a:r>
            <a:endParaRPr lang="en-US" sz="1200" dirty="0"/>
          </a:p>
        </p:txBody>
      </p:sp>
      <p:sp>
        <p:nvSpPr>
          <p:cNvPr id="38" name="Text 18"/>
          <p:cNvSpPr/>
          <p:nvPr/>
        </p:nvSpPr>
        <p:spPr>
          <a:xfrm>
            <a:off x="2697480" y="10058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other-site interference (nulled)</a:t>
            </a:r>
            <a:endParaRPr lang="en-US" sz="1200" dirty="0"/>
          </a:p>
        </p:txBody>
      </p:sp>
      <p:sp>
        <p:nvSpPr>
          <p:cNvPr id="39" name="Text 19"/>
          <p:cNvSpPr/>
          <p:nvPr/>
        </p:nvSpPr>
        <p:spPr>
          <a:xfrm>
            <a:off x="7223760" y="104241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desired FWA beam</a:t>
            </a:r>
            <a:endParaRPr lang="en-US" sz="1200" dirty="0"/>
          </a:p>
        </p:txBody>
      </p:sp>
      <p:pic>
        <p:nvPicPr>
          <p:cNvPr id="4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5488" y="4572000"/>
            <a:ext cx="274399" cy="347472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850471" y="4663440"/>
            <a:ext cx="12983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gNB site</a:t>
            </a:r>
            <a:endParaRPr lang="en-US" sz="1050" dirty="0"/>
          </a:p>
        </p:txBody>
      </p:sp>
      <p:pic>
        <p:nvPicPr>
          <p:cNvPr id="42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85416" y="4572000"/>
            <a:ext cx="364533" cy="347472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2650533" y="4663440"/>
            <a:ext cx="12082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Townhouse</a:t>
            </a:r>
            <a:endParaRPr lang="en-US" sz="1050" dirty="0"/>
          </a:p>
        </p:txBody>
      </p:sp>
      <p:pic>
        <p:nvPicPr>
          <p:cNvPr id="4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95344" y="4572000"/>
            <a:ext cx="231660" cy="347472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4227588" y="4663440"/>
            <a:ext cx="13411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Single-family home</a:t>
            </a:r>
            <a:endParaRPr lang="en-US" sz="1050" dirty="0"/>
          </a:p>
        </p:txBody>
      </p:sp>
      <p:pic>
        <p:nvPicPr>
          <p:cNvPr id="46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05272" y="4572000"/>
            <a:ext cx="387292" cy="347472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6093148" y="4663440"/>
            <a:ext cx="1185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Office park</a:t>
            </a:r>
            <a:endParaRPr lang="en-US" sz="1050" dirty="0"/>
          </a:p>
        </p:txBody>
      </p:sp>
      <p:pic>
        <p:nvPicPr>
          <p:cNvPr id="48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315200" y="4572000"/>
            <a:ext cx="329612" cy="347472"/>
          </a:xfrm>
          <a:prstGeom prst="rect">
            <a:avLst/>
          </a:prstGeom>
        </p:spPr>
      </p:pic>
      <p:sp>
        <p:nvSpPr>
          <p:cNvPr id="49" name="Text 24"/>
          <p:cNvSpPr/>
          <p:nvPr/>
        </p:nvSpPr>
        <p:spPr>
          <a:xfrm>
            <a:off x="7745396" y="4663440"/>
            <a:ext cx="12431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Rooftop FWA CPE</a:t>
            </a:r>
            <a:endParaRPr lang="en-US" sz="1050" dirty="0"/>
          </a:p>
        </p:txBody>
      </p:sp>
      <p:pic>
        <p:nvPicPr>
          <p:cNvPr id="50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25128" y="4572000"/>
            <a:ext cx="207302" cy="347472"/>
          </a:xfrm>
          <a:prstGeom prst="rect">
            <a:avLst/>
          </a:prstGeom>
        </p:spPr>
      </p:pic>
      <p:sp>
        <p:nvSpPr>
          <p:cNvPr id="51" name="Text 25"/>
          <p:cNvSpPr/>
          <p:nvPr/>
        </p:nvSpPr>
        <p:spPr>
          <a:xfrm>
            <a:off x="9333014" y="4663440"/>
            <a:ext cx="13654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Pedestrian UE</a:t>
            </a:r>
            <a:endParaRPr lang="en-US" sz="1050" dirty="0"/>
          </a:p>
        </p:txBody>
      </p:sp>
      <p:pic>
        <p:nvPicPr>
          <p:cNvPr id="52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735056" y="4572000"/>
            <a:ext cx="637924" cy="347472"/>
          </a:xfrm>
          <a:prstGeom prst="rect">
            <a:avLst/>
          </a:prstGeom>
        </p:spPr>
      </p:pic>
      <p:sp>
        <p:nvSpPr>
          <p:cNvPr id="53" name="Text 26"/>
          <p:cNvSpPr/>
          <p:nvPr/>
        </p:nvSpPr>
        <p:spPr>
          <a:xfrm>
            <a:off x="11473564" y="4663440"/>
            <a:ext cx="9348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In-car UE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2026-08-04T16:11:02Z</dcterms:created>
  <dcterms:modified xsi:type="dcterms:W3CDTF">2026-08-04T16:11:02Z</dcterms:modified>
</cp:coreProperties>
</file>