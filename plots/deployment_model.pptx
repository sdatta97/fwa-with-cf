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88825" cy="5075238"/>
  <p:notesSz cx="5075238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16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5412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690422"/>
            <a:ext cx="5663134" cy="1823721"/>
          </a:xfrm>
          <a:prstGeom prst="ellipse">
            <a:avLst/>
          </a:prstGeom>
          <a:solidFill>
            <a:srgbClr val="F2F5F1"/>
          </a:solidFill>
          <a:ln w="13331">
            <a:solidFill>
              <a:srgbClr val="BFCBB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772862" y="1690422"/>
            <a:ext cx="5663134" cy="1823721"/>
          </a:xfrm>
          <a:prstGeom prst="ellipse">
            <a:avLst/>
          </a:prstGeom>
          <a:solidFill>
            <a:srgbClr val="F2F5F1"/>
          </a:solidFill>
          <a:ln w="13331">
            <a:solidFill>
              <a:srgbClr val="BFCBB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12" y="2333523"/>
            <a:ext cx="364744" cy="364744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5426" y="2938231"/>
            <a:ext cx="255973" cy="38394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3590" y="2707866"/>
            <a:ext cx="443072" cy="42233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3280" y="2535092"/>
            <a:ext cx="171794" cy="28795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069" y="2727063"/>
            <a:ext cx="443072" cy="422335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0465" y="3082209"/>
            <a:ext cx="171794" cy="287956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8229" y="2650275"/>
            <a:ext cx="255973" cy="383941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9682" y="2429509"/>
            <a:ext cx="364744" cy="364744"/>
          </a:xfrm>
          <a:prstGeom prst="rect">
            <a:avLst/>
          </a:prstGeom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816" y="1882392"/>
            <a:ext cx="422933" cy="403138"/>
          </a:xfrm>
          <a:prstGeom prst="rect">
            <a:avLst/>
          </a:prstGeom>
        </p:spPr>
      </p:pic>
      <p:pic>
        <p:nvPicPr>
          <p:cNvPr id="15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5914" y="1632830"/>
            <a:ext cx="236734" cy="249562"/>
          </a:xfrm>
          <a:prstGeom prst="rect">
            <a:avLst/>
          </a:prstGeom>
        </p:spPr>
      </p:pic>
      <p:sp>
        <p:nvSpPr>
          <p:cNvPr id="16" name="Shape 4"/>
          <p:cNvSpPr/>
          <p:nvPr/>
        </p:nvSpPr>
        <p:spPr>
          <a:xfrm rot="3267739">
            <a:off x="2276596" y="1213191"/>
            <a:ext cx="220766" cy="1362399"/>
          </a:xfrm>
          <a:prstGeom prst="triangle">
            <a:avLst/>
          </a:prstGeom>
          <a:solidFill>
            <a:srgbClr val="8A8A8A">
              <a:alpha val="38000"/>
            </a:srgbClr>
          </a:solidFill>
          <a:ln w="9998">
            <a:solidFill>
              <a:srgbClr val="8A8A8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5"/>
          <p:cNvSpPr/>
          <p:nvPr/>
        </p:nvSpPr>
        <p:spPr>
          <a:xfrm>
            <a:off x="1611898" y="2299928"/>
            <a:ext cx="163175" cy="163175"/>
          </a:xfrm>
          <a:prstGeom prst="line">
            <a:avLst/>
          </a:prstGeom>
          <a:noFill/>
          <a:ln w="33328">
            <a:solidFill>
              <a:srgbClr val="8A8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6"/>
          <p:cNvSpPr/>
          <p:nvPr/>
        </p:nvSpPr>
        <p:spPr>
          <a:xfrm flipV="1">
            <a:off x="1611898" y="2299928"/>
            <a:ext cx="163175" cy="163175"/>
          </a:xfrm>
          <a:prstGeom prst="line">
            <a:avLst/>
          </a:prstGeom>
          <a:noFill/>
          <a:ln w="33328">
            <a:solidFill>
              <a:srgbClr val="8A8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7"/>
          <p:cNvSpPr/>
          <p:nvPr/>
        </p:nvSpPr>
        <p:spPr>
          <a:xfrm rot="5587328">
            <a:off x="2412416" y="1041301"/>
            <a:ext cx="191971" cy="867075"/>
          </a:xfrm>
          <a:prstGeom prst="triangle">
            <a:avLst/>
          </a:prstGeom>
          <a:solidFill>
            <a:srgbClr val="338C40">
              <a:alpha val="52000"/>
            </a:srgbClr>
          </a:solidFill>
          <a:ln w="9998">
            <a:solidFill>
              <a:srgbClr val="338C4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8"/>
          <p:cNvSpPr/>
          <p:nvPr/>
        </p:nvSpPr>
        <p:spPr>
          <a:xfrm rot="1959655">
            <a:off x="1405530" y="1328366"/>
            <a:ext cx="191971" cy="1422885"/>
          </a:xfrm>
          <a:prstGeom prst="triangle">
            <a:avLst/>
          </a:prstGeom>
          <a:solidFill>
            <a:srgbClr val="338C40">
              <a:alpha val="52000"/>
            </a:srgbClr>
          </a:solidFill>
          <a:ln w="9998">
            <a:solidFill>
              <a:srgbClr val="338C4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9"/>
          <p:cNvSpPr/>
          <p:nvPr/>
        </p:nvSpPr>
        <p:spPr>
          <a:xfrm rot="5017031">
            <a:off x="7177127" y="333512"/>
            <a:ext cx="249562" cy="2621290"/>
          </a:xfrm>
          <a:prstGeom prst="triangle">
            <a:avLst/>
          </a:prstGeom>
          <a:solidFill>
            <a:srgbClr val="0073BA">
              <a:alpha val="45000"/>
            </a:srgbClr>
          </a:solidFill>
          <a:ln w="9998">
            <a:solidFill>
              <a:srgbClr val="0073B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0"/>
          <p:cNvSpPr/>
          <p:nvPr/>
        </p:nvSpPr>
        <p:spPr>
          <a:xfrm rot="-5017031">
            <a:off x="3694300" y="713384"/>
            <a:ext cx="249562" cy="1766521"/>
          </a:xfrm>
          <a:prstGeom prst="triangle">
            <a:avLst/>
          </a:prstGeom>
          <a:solidFill>
            <a:srgbClr val="B81A29">
              <a:alpha val="42000"/>
            </a:srgbClr>
          </a:solidFill>
          <a:ln w="9998">
            <a:solidFill>
              <a:srgbClr val="B81A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1"/>
          <p:cNvSpPr/>
          <p:nvPr/>
        </p:nvSpPr>
        <p:spPr>
          <a:xfrm>
            <a:off x="4837005" y="1628031"/>
            <a:ext cx="182372" cy="182372"/>
          </a:xfrm>
          <a:prstGeom prst="line">
            <a:avLst/>
          </a:prstGeom>
          <a:noFill/>
          <a:ln w="33328">
            <a:solidFill>
              <a:srgbClr val="B81A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2"/>
          <p:cNvSpPr/>
          <p:nvPr/>
        </p:nvSpPr>
        <p:spPr>
          <a:xfrm flipV="1">
            <a:off x="4837005" y="1628031"/>
            <a:ext cx="182372" cy="182372"/>
          </a:xfrm>
          <a:prstGeom prst="line">
            <a:avLst/>
          </a:prstGeom>
          <a:noFill/>
          <a:ln w="33328">
            <a:solidFill>
              <a:srgbClr val="B81A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8597" y="1354473"/>
            <a:ext cx="985395" cy="1247809"/>
          </a:xfrm>
          <a:prstGeom prst="rect">
            <a:avLst/>
          </a:prstGeom>
        </p:spPr>
      </p:pic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1731" y="1354473"/>
            <a:ext cx="985395" cy="1247809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91247" y="1498451"/>
            <a:ext cx="588419" cy="527919"/>
          </a:xfrm>
          <a:prstGeom prst="rect">
            <a:avLst/>
          </a:prstGeom>
        </p:spPr>
      </p:pic>
      <p:sp>
        <p:nvSpPr>
          <p:cNvPr id="28" name="Shape 13"/>
          <p:cNvSpPr/>
          <p:nvPr/>
        </p:nvSpPr>
        <p:spPr>
          <a:xfrm>
            <a:off x="1741478" y="1354473"/>
            <a:ext cx="287956" cy="143978"/>
          </a:xfrm>
          <a:prstGeom prst="rect">
            <a:avLst/>
          </a:prstGeom>
          <a:solidFill>
            <a:srgbClr val="0D268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78653" y="1978378"/>
            <a:ext cx="588419" cy="52791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8074" y="1652028"/>
            <a:ext cx="309576" cy="326350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274" y="2794253"/>
            <a:ext cx="528658" cy="287956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2029434" y="2650275"/>
            <a:ext cx="1823721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5" b="1" dirty="0" err="1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</a:t>
            </a:r>
            <a:r>
              <a:rPr lang="en-US" sz="1155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</a:t>
            </a:r>
            <a:endParaRPr lang="en-US" sz="1155" dirty="0"/>
          </a:p>
        </p:txBody>
      </p:sp>
      <p:sp>
        <p:nvSpPr>
          <p:cNvPr id="33" name="Text 15"/>
          <p:cNvSpPr/>
          <p:nvPr/>
        </p:nvSpPr>
        <p:spPr>
          <a:xfrm>
            <a:off x="7692568" y="2650275"/>
            <a:ext cx="1823721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5" b="1" dirty="0" err="1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</a:t>
            </a:r>
            <a:r>
              <a:rPr lang="en-US" sz="1155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</a:t>
            </a:r>
            <a:endParaRPr lang="en-US" sz="1155" dirty="0"/>
          </a:p>
        </p:txBody>
      </p:sp>
      <p:sp>
        <p:nvSpPr>
          <p:cNvPr id="34" name="Text 16"/>
          <p:cNvSpPr/>
          <p:nvPr/>
        </p:nvSpPr>
        <p:spPr>
          <a:xfrm>
            <a:off x="1453522" y="1143305"/>
            <a:ext cx="863868" cy="182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5" b="1" dirty="0">
                <a:solidFill>
                  <a:srgbClr val="0D26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NCR</a:t>
            </a:r>
            <a:endParaRPr lang="en-US" sz="1155" dirty="0"/>
          </a:p>
        </p:txBody>
      </p:sp>
      <p:sp>
        <p:nvSpPr>
          <p:cNvPr id="36" name="Text 18"/>
          <p:cNvSpPr/>
          <p:nvPr/>
        </p:nvSpPr>
        <p:spPr>
          <a:xfrm>
            <a:off x="4956986" y="1364072"/>
            <a:ext cx="1631750" cy="182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FWA CPE (cell edge)</a:t>
            </a:r>
            <a:endParaRPr lang="en-US" sz="1050" dirty="0"/>
          </a:p>
        </p:txBody>
      </p:sp>
      <p:sp>
        <p:nvSpPr>
          <p:cNvPr id="38" name="Text 20"/>
          <p:cNvSpPr/>
          <p:nvPr/>
        </p:nvSpPr>
        <p:spPr>
          <a:xfrm>
            <a:off x="3805163" y="1901589"/>
            <a:ext cx="1583758" cy="383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945" i="1" dirty="0">
                <a:solidFill>
                  <a:srgbClr val="B81A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other-site interference</a:t>
            </a:r>
            <a:endParaRPr lang="en-US" sz="945" dirty="0"/>
          </a:p>
          <a:p>
            <a:pPr marL="0" indent="0" algn="r">
              <a:lnSpc>
                <a:spcPct val="95000"/>
              </a:lnSpc>
              <a:buNone/>
            </a:pPr>
            <a:r>
              <a:rPr lang="en-US" sz="945" i="1" dirty="0">
                <a:solidFill>
                  <a:srgbClr val="B81A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nulled by the CPE array</a:t>
            </a:r>
            <a:endParaRPr lang="en-US" sz="945" dirty="0"/>
          </a:p>
        </p:txBody>
      </p:sp>
      <p:sp>
        <p:nvSpPr>
          <p:cNvPr id="48" name="Text 30"/>
          <p:cNvSpPr/>
          <p:nvPr/>
        </p:nvSpPr>
        <p:spPr>
          <a:xfrm>
            <a:off x="1405530" y="2560995"/>
            <a:ext cx="888280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weak direct path</a:t>
            </a:r>
            <a:endParaRPr lang="en-US" sz="1050" dirty="0"/>
          </a:p>
        </p:txBody>
      </p:sp>
      <p:sp>
        <p:nvSpPr>
          <p:cNvPr id="50" name="Text 32"/>
          <p:cNvSpPr/>
          <p:nvPr/>
        </p:nvSpPr>
        <p:spPr>
          <a:xfrm>
            <a:off x="471238" y="1536005"/>
            <a:ext cx="1131053" cy="270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NCR-relayed path</a:t>
            </a:r>
            <a:endParaRPr lang="en-US" sz="1050" dirty="0"/>
          </a:p>
        </p:txBody>
      </p:sp>
      <p:sp>
        <p:nvSpPr>
          <p:cNvPr id="52" name="Text 34"/>
          <p:cNvSpPr/>
          <p:nvPr/>
        </p:nvSpPr>
        <p:spPr>
          <a:xfrm>
            <a:off x="6484754" y="1192072"/>
            <a:ext cx="1132510" cy="182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desired FWA beam</a:t>
            </a:r>
            <a:endParaRPr lang="en-US" sz="1050" dirty="0"/>
          </a:p>
        </p:txBody>
      </p:sp>
      <p:sp>
        <p:nvSpPr>
          <p:cNvPr id="54" name="Text 36"/>
          <p:cNvSpPr/>
          <p:nvPr/>
        </p:nvSpPr>
        <p:spPr>
          <a:xfrm>
            <a:off x="3295446" y="1143305"/>
            <a:ext cx="2447626" cy="21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other-site interference (nulled)</a:t>
            </a:r>
            <a:endParaRPr lang="en-US" sz="1050" dirty="0"/>
          </a:p>
        </p:txBody>
      </p:sp>
      <p:pic>
        <p:nvPicPr>
          <p:cNvPr id="5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721" y="4639160"/>
            <a:ext cx="257719" cy="326350"/>
          </a:xfrm>
          <a:prstGeom prst="rect">
            <a:avLst/>
          </a:prstGeom>
        </p:spPr>
      </p:pic>
      <p:sp>
        <p:nvSpPr>
          <p:cNvPr id="56" name="Text 37"/>
          <p:cNvSpPr/>
          <p:nvPr/>
        </p:nvSpPr>
        <p:spPr>
          <a:xfrm>
            <a:off x="511425" y="4725547"/>
            <a:ext cx="1316440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gNB site</a:t>
            </a:r>
            <a:endParaRPr lang="en-US" sz="997" dirty="0"/>
          </a:p>
        </p:txBody>
      </p:sp>
      <p:pic>
        <p:nvPicPr>
          <p:cNvPr id="57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6259" y="4639160"/>
            <a:ext cx="342374" cy="326350"/>
          </a:xfrm>
          <a:prstGeom prst="rect">
            <a:avLst/>
          </a:prstGeom>
        </p:spPr>
      </p:pic>
      <p:sp>
        <p:nvSpPr>
          <p:cNvPr id="58" name="Text 38"/>
          <p:cNvSpPr/>
          <p:nvPr/>
        </p:nvSpPr>
        <p:spPr>
          <a:xfrm>
            <a:off x="2304618" y="4725547"/>
            <a:ext cx="1231785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Townhouse</a:t>
            </a:r>
            <a:endParaRPr lang="en-US" sz="997" dirty="0"/>
          </a:p>
        </p:txBody>
      </p:sp>
      <p:pic>
        <p:nvPicPr>
          <p:cNvPr id="59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798" y="4639160"/>
            <a:ext cx="217577" cy="326350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3888360" y="4725547"/>
            <a:ext cx="1356582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Single-family home</a:t>
            </a:r>
            <a:endParaRPr lang="en-US" sz="997" dirty="0"/>
          </a:p>
        </p:txBody>
      </p:sp>
      <p:pic>
        <p:nvPicPr>
          <p:cNvPr id="61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3336" y="4639160"/>
            <a:ext cx="363750" cy="326350"/>
          </a:xfrm>
          <a:prstGeom prst="rect">
            <a:avLst/>
          </a:prstGeom>
        </p:spPr>
      </p:pic>
      <p:sp>
        <p:nvSpPr>
          <p:cNvPr id="62" name="Text 40"/>
          <p:cNvSpPr/>
          <p:nvPr/>
        </p:nvSpPr>
        <p:spPr>
          <a:xfrm>
            <a:off x="5743072" y="4725547"/>
            <a:ext cx="1210409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Office park</a:t>
            </a:r>
            <a:endParaRPr lang="en-US" sz="997" dirty="0"/>
          </a:p>
        </p:txBody>
      </p:sp>
      <p:pic>
        <p:nvPicPr>
          <p:cNvPr id="63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1875" y="4639160"/>
            <a:ext cx="309576" cy="326350"/>
          </a:xfrm>
          <a:prstGeom prst="rect">
            <a:avLst/>
          </a:prstGeom>
        </p:spPr>
      </p:pic>
      <p:sp>
        <p:nvSpPr>
          <p:cNvPr id="64" name="Text 41"/>
          <p:cNvSpPr/>
          <p:nvPr/>
        </p:nvSpPr>
        <p:spPr>
          <a:xfrm>
            <a:off x="7397436" y="4725547"/>
            <a:ext cx="1264583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Rooftop FWA CPE</a:t>
            </a:r>
            <a:endParaRPr lang="en-US" sz="997" dirty="0"/>
          </a:p>
        </p:txBody>
      </p:sp>
      <p:pic>
        <p:nvPicPr>
          <p:cNvPr id="65" name="Image 2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0414" y="4639160"/>
            <a:ext cx="194701" cy="326350"/>
          </a:xfrm>
          <a:prstGeom prst="rect">
            <a:avLst/>
          </a:prstGeom>
        </p:spPr>
      </p:pic>
      <p:sp>
        <p:nvSpPr>
          <p:cNvPr id="66" name="Text 42"/>
          <p:cNvSpPr/>
          <p:nvPr/>
        </p:nvSpPr>
        <p:spPr>
          <a:xfrm>
            <a:off x="8991100" y="4725547"/>
            <a:ext cx="1379458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Pedestrian UE</a:t>
            </a:r>
            <a:endParaRPr lang="en-US" sz="997" dirty="0"/>
          </a:p>
        </p:txBody>
      </p:sp>
      <p:pic>
        <p:nvPicPr>
          <p:cNvPr id="67" name="Image 2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08952" y="4639160"/>
            <a:ext cx="599146" cy="326350"/>
          </a:xfrm>
          <a:prstGeom prst="rect">
            <a:avLst/>
          </a:prstGeom>
        </p:spPr>
      </p:pic>
      <p:sp>
        <p:nvSpPr>
          <p:cNvPr id="68" name="Text 43"/>
          <p:cNvSpPr/>
          <p:nvPr/>
        </p:nvSpPr>
        <p:spPr>
          <a:xfrm>
            <a:off x="11104084" y="4725547"/>
            <a:ext cx="975013" cy="191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7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In-car UE</a:t>
            </a:r>
            <a:endParaRPr lang="en-US" sz="99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</Words>
  <Application>Microsoft Macintosh PowerPoint</Application>
  <PresentationFormat>Custom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Soumyadeep Datta</cp:lastModifiedBy>
  <cp:revision>2</cp:revision>
  <dcterms:created xsi:type="dcterms:W3CDTF">2026-08-03T19:51:15Z</dcterms:created>
  <dcterms:modified xsi:type="dcterms:W3CDTF">2026-08-04T15:55:25Z</dcterms:modified>
</cp:coreProperties>
</file>